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27562E-4A6B-47BB-8FD3-D26626CD8584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EEF638E-9CEE-45A6-BFB6-923C76DB7F22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9D31728-CAE6-40A2-87F1-6B99E2030AC5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EE91F8A-A10F-4E79-BAD4-7765E4582BE0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8A9BD8-9A8E-4ADE-B40A-97E003DB60E8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845A24-78C6-4265-B6B7-504BB9C91BE2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1F3464B-383B-412C-B9BB-062FB6A5D78B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1722965-5CDD-4C84-8F6A-0161E3101E02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D5C595-F271-401B-98E5-8CE0DE0A6B84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9667767-AFF3-42C5-8793-72B33406654D}" type="slidenum">
              <a:rPr lang="zxx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19657C-F924-4668-9C98-B32D58F3DC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508DDE-0216-47B4-A24B-B07E19B182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dos veces para añadir una imagen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5354FA6-2CA0-436F-B03C-FD4EC1DE3D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178BA72-9BD7-46E1-A6F7-6FF8EAB5F8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6215AF-234F-40CE-85E8-2B02B0A1FD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81D4EFF-CEEA-4DD1-B3C0-2672B9CBF9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9CD53B-5D79-405E-A8EB-E38472BB9F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F7CC64-477B-434A-BE8D-9264674749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3E90124-114D-4D95-A2B6-7860DB8524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87D5CE6-7088-4207-951D-9A4A9EA590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F5B9D16-94C1-4202-BDEB-2DBBEBAF03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22960" y="1280160"/>
            <a:ext cx="7314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PROYECTO PYTHON · DATA SCIENCE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822960" y="1757520"/>
            <a:ext cx="6400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24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Desafío: Hundir la Flota en consola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icture 2" descr="imagen"/>
          <p:cNvSpPr/>
          <p:nvPr/>
        </p:nvSpPr>
        <p:spPr>
          <a:xfrm>
            <a:off x="3154320" y="2553120"/>
            <a:ext cx="6228720" cy="3513960"/>
          </a:xfrm>
          <a:prstGeom prst="round2DiagRect">
            <a:avLst>
              <a:gd name="adj1" fmla="val 16667"/>
              <a:gd name="adj2" fmla="val 0"/>
            </a:avLst>
          </a:prstGeom>
          <a:blipFill rotWithShape="0">
            <a:blip r:embed="rId1"/>
            <a:srcRect/>
            <a:stretch/>
          </a:blipFill>
          <a:ln cap="sq" w="88900">
            <a:solidFill>
              <a:srgbClr val="FFFFFF"/>
            </a:solidFill>
            <a:miter/>
          </a:ln>
          <a:effectLst>
            <a:outerShdw algn="tl" blurRad="254160" rotWithShape="0">
              <a:srgbClr val="000000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01 · LA IDEA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Desafío Hundir la Flota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2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4"/>
          <p:cNvSpPr/>
          <p:nvPr/>
        </p:nvSpPr>
        <p:spPr>
          <a:xfrm>
            <a:off x="640080" y="1828800"/>
            <a:ext cx="3474000" cy="21938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5"/>
          <p:cNvSpPr/>
          <p:nvPr/>
        </p:nvSpPr>
        <p:spPr>
          <a:xfrm>
            <a:off x="640080" y="1828800"/>
            <a:ext cx="72360" cy="219384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914400" y="2011680"/>
            <a:ext cx="3016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¿De que va el juego?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713160" y="2434320"/>
            <a:ext cx="34009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Es un juego para dos jugadores. Cada uno esconde su flota en un tablero y trata de adivinar dónde están los barcos del otro, disparando por turnos a una coordenada. Gana quien hunda toda la flota rival primero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8"/>
          <p:cNvSpPr/>
          <p:nvPr/>
        </p:nvSpPr>
        <p:spPr>
          <a:xfrm>
            <a:off x="4343400" y="1828800"/>
            <a:ext cx="3474000" cy="21938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9"/>
          <p:cNvSpPr/>
          <p:nvPr/>
        </p:nvSpPr>
        <p:spPr>
          <a:xfrm>
            <a:off x="4343400" y="1828800"/>
            <a:ext cx="72360" cy="219384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4617720" y="2011680"/>
            <a:ext cx="3016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Tablero 10 × 10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1"/>
          <p:cNvSpPr/>
          <p:nvPr/>
        </p:nvSpPr>
        <p:spPr>
          <a:xfrm>
            <a:off x="4617720" y="2514600"/>
            <a:ext cx="30168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Cada jugador tiene una cuadrícula (de 10 × 10), y allí ubica sus barcos. Estos tienen distintos tamaños, de una a cuatro casillas, y se colocan en horizontal o vertical sin pisarse.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12"/>
          <p:cNvSpPr/>
          <p:nvPr/>
        </p:nvSpPr>
        <p:spPr>
          <a:xfrm>
            <a:off x="8046720" y="1828800"/>
            <a:ext cx="3474000" cy="21938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Rectangle 13"/>
          <p:cNvSpPr/>
          <p:nvPr/>
        </p:nvSpPr>
        <p:spPr>
          <a:xfrm>
            <a:off x="8046720" y="1828800"/>
            <a:ext cx="72360" cy="219384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8321040" y="2011680"/>
            <a:ext cx="3016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Explosión en texto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321040" y="2514600"/>
            <a:ext cx="3016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Si acierto, aparece una explosión hecha con letras y repito turno.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02 · ORGANIZACIÓN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Dos archivos, sin clases ni funciones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3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4"/>
          <p:cNvSpPr/>
          <p:nvPr/>
        </p:nvSpPr>
        <p:spPr>
          <a:xfrm>
            <a:off x="640080" y="1828800"/>
            <a:ext cx="5302800" cy="20109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640080" y="1828800"/>
            <a:ext cx="72360" cy="201096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914400" y="2011680"/>
            <a:ext cx="4845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variables.py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914400" y="2514600"/>
            <a:ext cx="4845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Los datos que no cambian: tamaño del tablero, letras, barcos y símbolos.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8"/>
          <p:cNvSpPr/>
          <p:nvPr/>
        </p:nvSpPr>
        <p:spPr>
          <a:xfrm>
            <a:off x="6217920" y="1828800"/>
            <a:ext cx="5302800" cy="20109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6217920" y="1828800"/>
            <a:ext cx="72360" cy="201096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6492240" y="2011680"/>
            <a:ext cx="4845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main.py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6492240" y="2514600"/>
            <a:ext cx="4845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Todo el juego: colocar barcos, turnos, disparos, final e informe.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03 · REGLAS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El tablero y la flota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4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4"/>
          <p:cNvSpPr/>
          <p:nvPr/>
        </p:nvSpPr>
        <p:spPr>
          <a:xfrm>
            <a:off x="82296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5"/>
          <p:cNvSpPr/>
          <p:nvPr/>
        </p:nvSpPr>
        <p:spPr>
          <a:xfrm>
            <a:off x="117036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151776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7"/>
          <p:cNvSpPr/>
          <p:nvPr/>
        </p:nvSpPr>
        <p:spPr>
          <a:xfrm>
            <a:off x="186552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8"/>
          <p:cNvSpPr/>
          <p:nvPr/>
        </p:nvSpPr>
        <p:spPr>
          <a:xfrm>
            <a:off x="221292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9"/>
          <p:cNvSpPr/>
          <p:nvPr/>
        </p:nvSpPr>
        <p:spPr>
          <a:xfrm>
            <a:off x="256032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10"/>
          <p:cNvSpPr/>
          <p:nvPr/>
        </p:nvSpPr>
        <p:spPr>
          <a:xfrm>
            <a:off x="290772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Rectangle 11"/>
          <p:cNvSpPr/>
          <p:nvPr/>
        </p:nvSpPr>
        <p:spPr>
          <a:xfrm>
            <a:off x="325512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12"/>
          <p:cNvSpPr/>
          <p:nvPr/>
        </p:nvSpPr>
        <p:spPr>
          <a:xfrm>
            <a:off x="360288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3"/>
          <p:cNvSpPr/>
          <p:nvPr/>
        </p:nvSpPr>
        <p:spPr>
          <a:xfrm>
            <a:off x="3950280" y="16380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14"/>
          <p:cNvSpPr/>
          <p:nvPr/>
        </p:nvSpPr>
        <p:spPr>
          <a:xfrm>
            <a:off x="822960" y="19854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15"/>
          <p:cNvSpPr/>
          <p:nvPr/>
        </p:nvSpPr>
        <p:spPr>
          <a:xfrm>
            <a:off x="1170360" y="198540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6"/>
          <p:cNvSpPr/>
          <p:nvPr/>
        </p:nvSpPr>
        <p:spPr>
          <a:xfrm>
            <a:off x="1517760" y="198540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17"/>
          <p:cNvSpPr/>
          <p:nvPr/>
        </p:nvSpPr>
        <p:spPr>
          <a:xfrm>
            <a:off x="1865520" y="198540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8"/>
          <p:cNvSpPr/>
          <p:nvPr/>
        </p:nvSpPr>
        <p:spPr>
          <a:xfrm>
            <a:off x="2212920" y="19854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9"/>
          <p:cNvSpPr/>
          <p:nvPr/>
        </p:nvSpPr>
        <p:spPr>
          <a:xfrm>
            <a:off x="2560320" y="19854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20"/>
          <p:cNvSpPr/>
          <p:nvPr/>
        </p:nvSpPr>
        <p:spPr>
          <a:xfrm>
            <a:off x="2907720" y="19854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21"/>
          <p:cNvSpPr/>
          <p:nvPr/>
        </p:nvSpPr>
        <p:spPr>
          <a:xfrm>
            <a:off x="3255120" y="19854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22"/>
          <p:cNvSpPr/>
          <p:nvPr/>
        </p:nvSpPr>
        <p:spPr>
          <a:xfrm>
            <a:off x="3602880" y="19854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23"/>
          <p:cNvSpPr/>
          <p:nvPr/>
        </p:nvSpPr>
        <p:spPr>
          <a:xfrm>
            <a:off x="3950280" y="19854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24"/>
          <p:cNvSpPr/>
          <p:nvPr/>
        </p:nvSpPr>
        <p:spPr>
          <a:xfrm>
            <a:off x="82296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25"/>
          <p:cNvSpPr/>
          <p:nvPr/>
        </p:nvSpPr>
        <p:spPr>
          <a:xfrm>
            <a:off x="117036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26"/>
          <p:cNvSpPr/>
          <p:nvPr/>
        </p:nvSpPr>
        <p:spPr>
          <a:xfrm>
            <a:off x="151776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27"/>
          <p:cNvSpPr/>
          <p:nvPr/>
        </p:nvSpPr>
        <p:spPr>
          <a:xfrm>
            <a:off x="186552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28"/>
          <p:cNvSpPr/>
          <p:nvPr/>
        </p:nvSpPr>
        <p:spPr>
          <a:xfrm>
            <a:off x="221292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ectangle 29"/>
          <p:cNvSpPr/>
          <p:nvPr/>
        </p:nvSpPr>
        <p:spPr>
          <a:xfrm>
            <a:off x="256032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30"/>
          <p:cNvSpPr/>
          <p:nvPr/>
        </p:nvSpPr>
        <p:spPr>
          <a:xfrm>
            <a:off x="290772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31"/>
          <p:cNvSpPr/>
          <p:nvPr/>
        </p:nvSpPr>
        <p:spPr>
          <a:xfrm>
            <a:off x="325512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32"/>
          <p:cNvSpPr/>
          <p:nvPr/>
        </p:nvSpPr>
        <p:spPr>
          <a:xfrm>
            <a:off x="360288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33"/>
          <p:cNvSpPr/>
          <p:nvPr/>
        </p:nvSpPr>
        <p:spPr>
          <a:xfrm>
            <a:off x="3950280" y="23328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34"/>
          <p:cNvSpPr/>
          <p:nvPr/>
        </p:nvSpPr>
        <p:spPr>
          <a:xfrm>
            <a:off x="82296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35"/>
          <p:cNvSpPr/>
          <p:nvPr/>
        </p:nvSpPr>
        <p:spPr>
          <a:xfrm>
            <a:off x="117036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36"/>
          <p:cNvSpPr/>
          <p:nvPr/>
        </p:nvSpPr>
        <p:spPr>
          <a:xfrm>
            <a:off x="151776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37"/>
          <p:cNvSpPr/>
          <p:nvPr/>
        </p:nvSpPr>
        <p:spPr>
          <a:xfrm>
            <a:off x="186552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38"/>
          <p:cNvSpPr/>
          <p:nvPr/>
        </p:nvSpPr>
        <p:spPr>
          <a:xfrm>
            <a:off x="221292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39"/>
          <p:cNvSpPr/>
          <p:nvPr/>
        </p:nvSpPr>
        <p:spPr>
          <a:xfrm>
            <a:off x="256032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40"/>
          <p:cNvSpPr/>
          <p:nvPr/>
        </p:nvSpPr>
        <p:spPr>
          <a:xfrm>
            <a:off x="290772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41"/>
          <p:cNvSpPr/>
          <p:nvPr/>
        </p:nvSpPr>
        <p:spPr>
          <a:xfrm>
            <a:off x="325512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42"/>
          <p:cNvSpPr/>
          <p:nvPr/>
        </p:nvSpPr>
        <p:spPr>
          <a:xfrm>
            <a:off x="3602880" y="268020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43"/>
          <p:cNvSpPr/>
          <p:nvPr/>
        </p:nvSpPr>
        <p:spPr>
          <a:xfrm>
            <a:off x="3950280" y="26802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44"/>
          <p:cNvSpPr/>
          <p:nvPr/>
        </p:nvSpPr>
        <p:spPr>
          <a:xfrm>
            <a:off x="82296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45"/>
          <p:cNvSpPr/>
          <p:nvPr/>
        </p:nvSpPr>
        <p:spPr>
          <a:xfrm>
            <a:off x="117036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46"/>
          <p:cNvSpPr/>
          <p:nvPr/>
        </p:nvSpPr>
        <p:spPr>
          <a:xfrm>
            <a:off x="151776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47"/>
          <p:cNvSpPr/>
          <p:nvPr/>
        </p:nvSpPr>
        <p:spPr>
          <a:xfrm>
            <a:off x="186552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48"/>
          <p:cNvSpPr/>
          <p:nvPr/>
        </p:nvSpPr>
        <p:spPr>
          <a:xfrm>
            <a:off x="221292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49"/>
          <p:cNvSpPr/>
          <p:nvPr/>
        </p:nvSpPr>
        <p:spPr>
          <a:xfrm>
            <a:off x="256032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50"/>
          <p:cNvSpPr/>
          <p:nvPr/>
        </p:nvSpPr>
        <p:spPr>
          <a:xfrm>
            <a:off x="290772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51"/>
          <p:cNvSpPr/>
          <p:nvPr/>
        </p:nvSpPr>
        <p:spPr>
          <a:xfrm>
            <a:off x="325512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52"/>
          <p:cNvSpPr/>
          <p:nvPr/>
        </p:nvSpPr>
        <p:spPr>
          <a:xfrm>
            <a:off x="3602880" y="302760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53"/>
          <p:cNvSpPr/>
          <p:nvPr/>
        </p:nvSpPr>
        <p:spPr>
          <a:xfrm>
            <a:off x="3950280" y="302760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54"/>
          <p:cNvSpPr/>
          <p:nvPr/>
        </p:nvSpPr>
        <p:spPr>
          <a:xfrm>
            <a:off x="82296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55"/>
          <p:cNvSpPr/>
          <p:nvPr/>
        </p:nvSpPr>
        <p:spPr>
          <a:xfrm>
            <a:off x="117036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56"/>
          <p:cNvSpPr/>
          <p:nvPr/>
        </p:nvSpPr>
        <p:spPr>
          <a:xfrm>
            <a:off x="151776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57"/>
          <p:cNvSpPr/>
          <p:nvPr/>
        </p:nvSpPr>
        <p:spPr>
          <a:xfrm>
            <a:off x="186552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58"/>
          <p:cNvSpPr/>
          <p:nvPr/>
        </p:nvSpPr>
        <p:spPr>
          <a:xfrm>
            <a:off x="221292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59"/>
          <p:cNvSpPr/>
          <p:nvPr/>
        </p:nvSpPr>
        <p:spPr>
          <a:xfrm>
            <a:off x="256032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60"/>
          <p:cNvSpPr/>
          <p:nvPr/>
        </p:nvSpPr>
        <p:spPr>
          <a:xfrm>
            <a:off x="2907720" y="337536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ectangle 61"/>
          <p:cNvSpPr/>
          <p:nvPr/>
        </p:nvSpPr>
        <p:spPr>
          <a:xfrm>
            <a:off x="325512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62"/>
          <p:cNvSpPr/>
          <p:nvPr/>
        </p:nvSpPr>
        <p:spPr>
          <a:xfrm>
            <a:off x="360288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63"/>
          <p:cNvSpPr/>
          <p:nvPr/>
        </p:nvSpPr>
        <p:spPr>
          <a:xfrm>
            <a:off x="3950280" y="33753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ectangle 64"/>
          <p:cNvSpPr/>
          <p:nvPr/>
        </p:nvSpPr>
        <p:spPr>
          <a:xfrm>
            <a:off x="82296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ectangle 65"/>
          <p:cNvSpPr/>
          <p:nvPr/>
        </p:nvSpPr>
        <p:spPr>
          <a:xfrm>
            <a:off x="117036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66"/>
          <p:cNvSpPr/>
          <p:nvPr/>
        </p:nvSpPr>
        <p:spPr>
          <a:xfrm>
            <a:off x="151776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ectangle 67"/>
          <p:cNvSpPr/>
          <p:nvPr/>
        </p:nvSpPr>
        <p:spPr>
          <a:xfrm>
            <a:off x="186552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68"/>
          <p:cNvSpPr/>
          <p:nvPr/>
        </p:nvSpPr>
        <p:spPr>
          <a:xfrm>
            <a:off x="221292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ectangle 69"/>
          <p:cNvSpPr/>
          <p:nvPr/>
        </p:nvSpPr>
        <p:spPr>
          <a:xfrm>
            <a:off x="256032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70"/>
          <p:cNvSpPr/>
          <p:nvPr/>
        </p:nvSpPr>
        <p:spPr>
          <a:xfrm>
            <a:off x="2907720" y="372276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71"/>
          <p:cNvSpPr/>
          <p:nvPr/>
        </p:nvSpPr>
        <p:spPr>
          <a:xfrm>
            <a:off x="325512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72"/>
          <p:cNvSpPr/>
          <p:nvPr/>
        </p:nvSpPr>
        <p:spPr>
          <a:xfrm>
            <a:off x="360288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73"/>
          <p:cNvSpPr/>
          <p:nvPr/>
        </p:nvSpPr>
        <p:spPr>
          <a:xfrm>
            <a:off x="3950280" y="37227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Rectangle 74"/>
          <p:cNvSpPr/>
          <p:nvPr/>
        </p:nvSpPr>
        <p:spPr>
          <a:xfrm>
            <a:off x="82296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Rectangle 75"/>
          <p:cNvSpPr/>
          <p:nvPr/>
        </p:nvSpPr>
        <p:spPr>
          <a:xfrm>
            <a:off x="117036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76"/>
          <p:cNvSpPr/>
          <p:nvPr/>
        </p:nvSpPr>
        <p:spPr>
          <a:xfrm>
            <a:off x="151776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77"/>
          <p:cNvSpPr/>
          <p:nvPr/>
        </p:nvSpPr>
        <p:spPr>
          <a:xfrm>
            <a:off x="186552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78"/>
          <p:cNvSpPr/>
          <p:nvPr/>
        </p:nvSpPr>
        <p:spPr>
          <a:xfrm>
            <a:off x="221292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79"/>
          <p:cNvSpPr/>
          <p:nvPr/>
        </p:nvSpPr>
        <p:spPr>
          <a:xfrm>
            <a:off x="256032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80"/>
          <p:cNvSpPr/>
          <p:nvPr/>
        </p:nvSpPr>
        <p:spPr>
          <a:xfrm>
            <a:off x="290772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Rectangle 81"/>
          <p:cNvSpPr/>
          <p:nvPr/>
        </p:nvSpPr>
        <p:spPr>
          <a:xfrm>
            <a:off x="325512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ectangle 82"/>
          <p:cNvSpPr/>
          <p:nvPr/>
        </p:nvSpPr>
        <p:spPr>
          <a:xfrm>
            <a:off x="360288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83"/>
          <p:cNvSpPr/>
          <p:nvPr/>
        </p:nvSpPr>
        <p:spPr>
          <a:xfrm>
            <a:off x="3950280" y="40701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84"/>
          <p:cNvSpPr/>
          <p:nvPr/>
        </p:nvSpPr>
        <p:spPr>
          <a:xfrm>
            <a:off x="822960" y="44175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85"/>
          <p:cNvSpPr/>
          <p:nvPr/>
        </p:nvSpPr>
        <p:spPr>
          <a:xfrm>
            <a:off x="1170360" y="44175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Rectangle 86"/>
          <p:cNvSpPr/>
          <p:nvPr/>
        </p:nvSpPr>
        <p:spPr>
          <a:xfrm>
            <a:off x="1517760" y="441756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87"/>
          <p:cNvSpPr/>
          <p:nvPr/>
        </p:nvSpPr>
        <p:spPr>
          <a:xfrm>
            <a:off x="1865520" y="441756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88"/>
          <p:cNvSpPr/>
          <p:nvPr/>
        </p:nvSpPr>
        <p:spPr>
          <a:xfrm>
            <a:off x="2212920" y="4417560"/>
            <a:ext cx="310320" cy="310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89"/>
          <p:cNvSpPr/>
          <p:nvPr/>
        </p:nvSpPr>
        <p:spPr>
          <a:xfrm>
            <a:off x="2560320" y="44175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90"/>
          <p:cNvSpPr/>
          <p:nvPr/>
        </p:nvSpPr>
        <p:spPr>
          <a:xfrm>
            <a:off x="2907720" y="44175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91"/>
          <p:cNvSpPr/>
          <p:nvPr/>
        </p:nvSpPr>
        <p:spPr>
          <a:xfrm>
            <a:off x="3255120" y="44175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92"/>
          <p:cNvSpPr/>
          <p:nvPr/>
        </p:nvSpPr>
        <p:spPr>
          <a:xfrm>
            <a:off x="3602880" y="44175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93"/>
          <p:cNvSpPr/>
          <p:nvPr/>
        </p:nvSpPr>
        <p:spPr>
          <a:xfrm>
            <a:off x="3950280" y="44175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94"/>
          <p:cNvSpPr/>
          <p:nvPr/>
        </p:nvSpPr>
        <p:spPr>
          <a:xfrm>
            <a:off x="82296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95"/>
          <p:cNvSpPr/>
          <p:nvPr/>
        </p:nvSpPr>
        <p:spPr>
          <a:xfrm>
            <a:off x="117036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96"/>
          <p:cNvSpPr/>
          <p:nvPr/>
        </p:nvSpPr>
        <p:spPr>
          <a:xfrm>
            <a:off x="151776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Rectangle 97"/>
          <p:cNvSpPr/>
          <p:nvPr/>
        </p:nvSpPr>
        <p:spPr>
          <a:xfrm>
            <a:off x="186552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98"/>
          <p:cNvSpPr/>
          <p:nvPr/>
        </p:nvSpPr>
        <p:spPr>
          <a:xfrm>
            <a:off x="221292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99"/>
          <p:cNvSpPr/>
          <p:nvPr/>
        </p:nvSpPr>
        <p:spPr>
          <a:xfrm>
            <a:off x="256032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100"/>
          <p:cNvSpPr/>
          <p:nvPr/>
        </p:nvSpPr>
        <p:spPr>
          <a:xfrm>
            <a:off x="290772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01"/>
          <p:cNvSpPr/>
          <p:nvPr/>
        </p:nvSpPr>
        <p:spPr>
          <a:xfrm>
            <a:off x="325512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Rectangle 102"/>
          <p:cNvSpPr/>
          <p:nvPr/>
        </p:nvSpPr>
        <p:spPr>
          <a:xfrm>
            <a:off x="360288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103"/>
          <p:cNvSpPr/>
          <p:nvPr/>
        </p:nvSpPr>
        <p:spPr>
          <a:xfrm>
            <a:off x="3950280" y="4764960"/>
            <a:ext cx="310320" cy="310320"/>
          </a:xfrm>
          <a:prstGeom prst="rect">
            <a:avLst/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04"/>
          <p:cNvSpPr/>
          <p:nvPr/>
        </p:nvSpPr>
        <p:spPr>
          <a:xfrm>
            <a:off x="822960" y="5158440"/>
            <a:ext cx="3656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1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Filas A–J, columnas 1–10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105"/>
          <p:cNvSpPr/>
          <p:nvPr/>
        </p:nvSpPr>
        <p:spPr>
          <a:xfrm>
            <a:off x="5303520" y="1638000"/>
            <a:ext cx="3016800" cy="44323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106"/>
          <p:cNvSpPr/>
          <p:nvPr/>
        </p:nvSpPr>
        <p:spPr>
          <a:xfrm>
            <a:off x="5303520" y="1638000"/>
            <a:ext cx="72360" cy="44323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07"/>
          <p:cNvSpPr/>
          <p:nvPr/>
        </p:nvSpPr>
        <p:spPr>
          <a:xfrm>
            <a:off x="5577840" y="1820880"/>
            <a:ext cx="2559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Flota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08"/>
          <p:cNvSpPr/>
          <p:nvPr/>
        </p:nvSpPr>
        <p:spPr>
          <a:xfrm>
            <a:off x="5577840" y="2323800"/>
            <a:ext cx="2559600" cy="16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4 lanchas × 1 casilla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3 patrulleras × 2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2 fragatas × 3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1 buque faro × 4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br>
              <a:rPr sz="1500"/>
            </a:b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Total: 10 barcos, 20 casillas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109"/>
          <p:cNvSpPr/>
          <p:nvPr/>
        </p:nvSpPr>
        <p:spPr>
          <a:xfrm>
            <a:off x="8595360" y="1638000"/>
            <a:ext cx="3016800" cy="35197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Rectangle 110"/>
          <p:cNvSpPr/>
          <p:nvPr/>
        </p:nvSpPr>
        <p:spPr>
          <a:xfrm>
            <a:off x="8595360" y="1638000"/>
            <a:ext cx="72360" cy="351972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11"/>
          <p:cNvSpPr/>
          <p:nvPr/>
        </p:nvSpPr>
        <p:spPr>
          <a:xfrm>
            <a:off x="8869680" y="1820880"/>
            <a:ext cx="2559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Reglas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112"/>
          <p:cNvSpPr/>
          <p:nvPr/>
        </p:nvSpPr>
        <p:spPr>
          <a:xfrm>
            <a:off x="8869680" y="2323800"/>
            <a:ext cx="255960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No se salen del tablero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No se pisan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No repito un disparo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Picture 2"/>
          <p:cNvSpPr/>
          <p:nvPr/>
        </p:nvSpPr>
        <p:spPr>
          <a:xfrm>
            <a:off x="5426640" y="4090320"/>
            <a:ext cx="2801880" cy="106560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tl" blurRad="76320" dir="7800819" dist="38073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contrasting">
              <a:rot lat="0" lon="0" rev="4200000"/>
            </a:lightRig>
          </a:scene3d>
          <a:sp3d prstMaterial="plastic">
            <a:bevelT prst="relaxedInset" w="381000" h="114300"/>
            <a:contourClr>
              <a:srgbClr val="969696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113 CuadroTexto"/>
          <p:cNvSpPr/>
          <p:nvPr/>
        </p:nvSpPr>
        <p:spPr>
          <a:xfrm>
            <a:off x="5597280" y="5490000"/>
            <a:ext cx="2540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xx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El ciclo de vida de un barco es una lista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115 Flecha derecha"/>
          <p:cNvSpPr/>
          <p:nvPr/>
        </p:nvSpPr>
        <p:spPr>
          <a:xfrm rot="5400000">
            <a:off x="6661080" y="5259600"/>
            <a:ext cx="302760" cy="259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4A7EB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04 · LÓGICA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Cómo es un turno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5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4"/>
          <p:cNvSpPr/>
          <p:nvPr/>
        </p:nvSpPr>
        <p:spPr>
          <a:xfrm>
            <a:off x="640080" y="1456920"/>
            <a:ext cx="2605320" cy="21024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5"/>
          <p:cNvSpPr/>
          <p:nvPr/>
        </p:nvSpPr>
        <p:spPr>
          <a:xfrm>
            <a:off x="640080" y="1456920"/>
            <a:ext cx="72360" cy="210240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6"/>
          <p:cNvSpPr/>
          <p:nvPr/>
        </p:nvSpPr>
        <p:spPr>
          <a:xfrm>
            <a:off x="914400" y="163980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1 · Escribo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7"/>
          <p:cNvSpPr/>
          <p:nvPr/>
        </p:nvSpPr>
        <p:spPr>
          <a:xfrm>
            <a:off x="914400" y="2142720"/>
            <a:ext cx="2148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Una coordenada, por ejemplo B7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8"/>
          <p:cNvSpPr/>
          <p:nvPr/>
        </p:nvSpPr>
        <p:spPr>
          <a:xfrm>
            <a:off x="3474720" y="1456920"/>
            <a:ext cx="2605320" cy="21024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9"/>
          <p:cNvSpPr/>
          <p:nvPr/>
        </p:nvSpPr>
        <p:spPr>
          <a:xfrm>
            <a:off x="3474720" y="1456920"/>
            <a:ext cx="72360" cy="210240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10"/>
          <p:cNvSpPr/>
          <p:nvPr/>
        </p:nvSpPr>
        <p:spPr>
          <a:xfrm>
            <a:off x="3749040" y="163980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2 · Reviso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1"/>
          <p:cNvSpPr/>
          <p:nvPr/>
        </p:nvSpPr>
        <p:spPr>
          <a:xfrm>
            <a:off x="3749040" y="2142720"/>
            <a:ext cx="2148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Letra, número, dentro del tablero y no repetida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2"/>
          <p:cNvSpPr/>
          <p:nvPr/>
        </p:nvSpPr>
        <p:spPr>
          <a:xfrm>
            <a:off x="6309360" y="1456920"/>
            <a:ext cx="2605320" cy="21024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13"/>
          <p:cNvSpPr/>
          <p:nvPr/>
        </p:nvSpPr>
        <p:spPr>
          <a:xfrm>
            <a:off x="6309360" y="1456920"/>
            <a:ext cx="72360" cy="210240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4"/>
          <p:cNvSpPr/>
          <p:nvPr/>
        </p:nvSpPr>
        <p:spPr>
          <a:xfrm>
            <a:off x="6583680" y="163980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3 · Resuelvo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5"/>
          <p:cNvSpPr/>
          <p:nvPr/>
        </p:nvSpPr>
        <p:spPr>
          <a:xfrm>
            <a:off x="6583680" y="214272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Agua, tocado o hundido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16"/>
          <p:cNvSpPr/>
          <p:nvPr/>
        </p:nvSpPr>
        <p:spPr>
          <a:xfrm>
            <a:off x="9144000" y="1456920"/>
            <a:ext cx="2605320" cy="21024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Rectangle 17"/>
          <p:cNvSpPr/>
          <p:nvPr/>
        </p:nvSpPr>
        <p:spPr>
          <a:xfrm>
            <a:off x="9144000" y="1456920"/>
            <a:ext cx="72360" cy="210240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8"/>
          <p:cNvSpPr/>
          <p:nvPr/>
        </p:nvSpPr>
        <p:spPr>
          <a:xfrm>
            <a:off x="9418320" y="163980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4 · Cambio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9"/>
          <p:cNvSpPr/>
          <p:nvPr/>
        </p:nvSpPr>
        <p:spPr>
          <a:xfrm>
            <a:off x="9418320" y="214272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Agua: cambia el turno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0"/>
          <p:cNvSpPr/>
          <p:nvPr/>
        </p:nvSpPr>
        <p:spPr>
          <a:xfrm>
            <a:off x="640080" y="3714840"/>
            <a:ext cx="10972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8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ACIERTO → mantengo el turno        FALLO → pasa a la máquina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1"/>
          <p:cNvSpPr/>
          <p:nvPr/>
        </p:nvSpPr>
        <p:spPr>
          <a:xfrm>
            <a:off x="640080" y="4084200"/>
            <a:ext cx="6400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6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La máquina hace lo mismo, pero elige la casilla al azar, sin repetir ninguna.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Picture 2"/>
          <p:cNvSpPr/>
          <p:nvPr/>
        </p:nvSpPr>
        <p:spPr>
          <a:xfrm>
            <a:off x="6993000" y="3688560"/>
            <a:ext cx="3959280" cy="261720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tl" blurRad="76320" dir="7800819" dist="38073" rotWithShape="0">
              <a:srgbClr val="000000">
                <a:alpha val="40000"/>
              </a:srgbClr>
            </a:outerShdw>
          </a:effectLst>
          <a:scene3d>
            <a:camera prst="orthographicFront"/>
            <a:lightRig dir="t" rig="contrasting">
              <a:rot lat="0" lon="0" rev="4200000"/>
            </a:lightRig>
          </a:scene3d>
          <a:sp3d prstMaterial="plastic">
            <a:bevelT prst="relaxedInset" w="381000" h="114300"/>
            <a:contourClr>
              <a:srgbClr val="969696"/>
            </a:contourClr>
          </a:sp3d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23 Imagen"/>
          <p:cNvPicPr/>
          <p:nvPr/>
        </p:nvPicPr>
        <p:blipFill>
          <a:blip r:embed="rId2"/>
          <a:stretch/>
        </p:blipFill>
        <p:spPr>
          <a:xfrm>
            <a:off x="5164200" y="4637160"/>
            <a:ext cx="3165120" cy="237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Box 20"/>
          <p:cNvSpPr/>
          <p:nvPr/>
        </p:nvSpPr>
        <p:spPr>
          <a:xfrm>
            <a:off x="6816600" y="6355080"/>
            <a:ext cx="4533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8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Un ciclo continuo de Validación y Resolución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05 · DEMOSTRACIÓN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Demo en vivo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6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4"/>
          <p:cNvSpPr/>
          <p:nvPr/>
        </p:nvSpPr>
        <p:spPr>
          <a:xfrm>
            <a:off x="720000" y="1404000"/>
            <a:ext cx="6280200" cy="15944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Rectangle 5"/>
          <p:cNvSpPr/>
          <p:nvPr/>
        </p:nvSpPr>
        <p:spPr>
          <a:xfrm>
            <a:off x="720000" y="1404000"/>
            <a:ext cx="131040" cy="159444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6"/>
          <p:cNvSpPr/>
          <p:nvPr/>
        </p:nvSpPr>
        <p:spPr>
          <a:xfrm>
            <a:off x="1215360" y="1536840"/>
            <a:ext cx="5455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1 · Agua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7"/>
          <p:cNvSpPr/>
          <p:nvPr/>
        </p:nvSpPr>
        <p:spPr>
          <a:xfrm>
            <a:off x="1215360" y="1902600"/>
            <a:ext cx="5455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Disparo a una casilla vacía. Cambia el turno.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Rounded Rectangle 8"/>
          <p:cNvSpPr/>
          <p:nvPr/>
        </p:nvSpPr>
        <p:spPr>
          <a:xfrm>
            <a:off x="720000" y="3083400"/>
            <a:ext cx="6280200" cy="15944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9"/>
          <p:cNvSpPr/>
          <p:nvPr/>
        </p:nvSpPr>
        <p:spPr>
          <a:xfrm>
            <a:off x="720000" y="3083400"/>
            <a:ext cx="131040" cy="159444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0"/>
          <p:cNvSpPr/>
          <p:nvPr/>
        </p:nvSpPr>
        <p:spPr>
          <a:xfrm>
            <a:off x="1215360" y="3216600"/>
            <a:ext cx="5455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2 · Impacto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1"/>
          <p:cNvSpPr/>
          <p:nvPr/>
        </p:nvSpPr>
        <p:spPr>
          <a:xfrm>
            <a:off x="1215360" y="3582000"/>
            <a:ext cx="5455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Disparo a un barco. Aparece la explosión y repito.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12"/>
          <p:cNvSpPr/>
          <p:nvPr/>
        </p:nvSpPr>
        <p:spPr>
          <a:xfrm>
            <a:off x="720000" y="4756320"/>
            <a:ext cx="6280200" cy="15944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ectangle 13"/>
          <p:cNvSpPr/>
          <p:nvPr/>
        </p:nvSpPr>
        <p:spPr>
          <a:xfrm>
            <a:off x="720000" y="4756320"/>
            <a:ext cx="130680" cy="159444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14"/>
          <p:cNvSpPr/>
          <p:nvPr/>
        </p:nvSpPr>
        <p:spPr>
          <a:xfrm>
            <a:off x="1215720" y="4889520"/>
            <a:ext cx="5454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3 · Error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5"/>
          <p:cNvSpPr/>
          <p:nvPr/>
        </p:nvSpPr>
        <p:spPr>
          <a:xfrm>
            <a:off x="1215720" y="5254920"/>
            <a:ext cx="5454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Escribo mal la coordenada. El programa avisa y sigue.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" name=""/>
          <p:cNvPicPr/>
          <p:nvPr/>
        </p:nvPicPr>
        <p:blipFill>
          <a:blip r:embed="rId1">
            <a:biLevel thresh="50000"/>
          </a:blip>
          <a:stretch/>
        </p:blipFill>
        <p:spPr>
          <a:xfrm>
            <a:off x="7416000" y="767520"/>
            <a:ext cx="3627000" cy="56404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06 · DATOS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El informe de la partida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7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Rounded Rectangle 4"/>
          <p:cNvSpPr/>
          <p:nvPr/>
        </p:nvSpPr>
        <p:spPr>
          <a:xfrm>
            <a:off x="640080" y="1432800"/>
            <a:ext cx="2605320" cy="19195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Rectangle 5"/>
          <p:cNvSpPr/>
          <p:nvPr/>
        </p:nvSpPr>
        <p:spPr>
          <a:xfrm>
            <a:off x="640080" y="1432800"/>
            <a:ext cx="72360" cy="19195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914400" y="161568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DISPAROS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7"/>
          <p:cNvSpPr/>
          <p:nvPr/>
        </p:nvSpPr>
        <p:spPr>
          <a:xfrm>
            <a:off x="914400" y="211860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Total de intentos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ounded Rectangle 8"/>
          <p:cNvSpPr/>
          <p:nvPr/>
        </p:nvSpPr>
        <p:spPr>
          <a:xfrm>
            <a:off x="3474720" y="1432800"/>
            <a:ext cx="2605320" cy="19195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9"/>
          <p:cNvSpPr/>
          <p:nvPr/>
        </p:nvSpPr>
        <p:spPr>
          <a:xfrm>
            <a:off x="3474720" y="1432800"/>
            <a:ext cx="72360" cy="191952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0"/>
          <p:cNvSpPr/>
          <p:nvPr/>
        </p:nvSpPr>
        <p:spPr>
          <a:xfrm>
            <a:off x="3749040" y="161568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PRECISIÓN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1"/>
          <p:cNvSpPr/>
          <p:nvPr/>
        </p:nvSpPr>
        <p:spPr>
          <a:xfrm>
            <a:off x="3749040" y="2118600"/>
            <a:ext cx="2148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(Impactos ÷ disparos) × 100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12"/>
          <p:cNvSpPr/>
          <p:nvPr/>
        </p:nvSpPr>
        <p:spPr>
          <a:xfrm>
            <a:off x="6309360" y="1432800"/>
            <a:ext cx="2605320" cy="19195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13"/>
          <p:cNvSpPr/>
          <p:nvPr/>
        </p:nvSpPr>
        <p:spPr>
          <a:xfrm>
            <a:off x="6309360" y="1432800"/>
            <a:ext cx="72360" cy="19195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6583680" y="161568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AGUA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5"/>
          <p:cNvSpPr/>
          <p:nvPr/>
        </p:nvSpPr>
        <p:spPr>
          <a:xfrm>
            <a:off x="6583680" y="2118600"/>
            <a:ext cx="2148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Disparos que no dieron en nada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16"/>
          <p:cNvSpPr/>
          <p:nvPr/>
        </p:nvSpPr>
        <p:spPr>
          <a:xfrm>
            <a:off x="9144000" y="1432800"/>
            <a:ext cx="2605320" cy="19195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17"/>
          <p:cNvSpPr/>
          <p:nvPr/>
        </p:nvSpPr>
        <p:spPr>
          <a:xfrm>
            <a:off x="9144000" y="1432800"/>
            <a:ext cx="72360" cy="191952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8"/>
          <p:cNvSpPr/>
          <p:nvPr/>
        </p:nvSpPr>
        <p:spPr>
          <a:xfrm>
            <a:off x="9418320" y="1615680"/>
            <a:ext cx="2148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POR FILA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9"/>
          <p:cNvSpPr/>
          <p:nvPr/>
        </p:nvSpPr>
        <p:spPr>
          <a:xfrm>
            <a:off x="9418320" y="211860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Barras de impactos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Rounded Rectangle 20"/>
          <p:cNvSpPr/>
          <p:nvPr/>
        </p:nvSpPr>
        <p:spPr>
          <a:xfrm>
            <a:off x="640080" y="3600000"/>
            <a:ext cx="11059560" cy="288000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1"/>
          <p:cNvSpPr/>
          <p:nvPr/>
        </p:nvSpPr>
        <p:spPr>
          <a:xfrm>
            <a:off x="914400" y="4297680"/>
            <a:ext cx="10423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¿Qué puedo concluir con estos datos?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2"/>
          <p:cNvSpPr/>
          <p:nvPr/>
        </p:nvSpPr>
        <p:spPr>
          <a:xfrm>
            <a:off x="914400" y="4754880"/>
            <a:ext cx="5205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Puedo describir esta partida. Con una sola no se puede decir de manera concluyente que una fila sea más segura. Para eso haría falta comparar muchas partidas.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"/>
          <p:cNvPicPr/>
          <p:nvPr/>
        </p:nvPicPr>
        <p:blipFill>
          <a:blip r:embed="rId1">
            <a:biLevel thresh="50000"/>
          </a:blip>
          <a:srcRect l="0" t="45724" r="0" b="0"/>
          <a:stretch/>
        </p:blipFill>
        <p:spPr>
          <a:xfrm>
            <a:off x="7200000" y="3690000"/>
            <a:ext cx="3576960" cy="270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07 · LO QUE VIENE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Lo que no hace ahora, y lo que si podría hacer en un futuro … 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8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4"/>
          <p:cNvSpPr/>
          <p:nvPr/>
        </p:nvSpPr>
        <p:spPr>
          <a:xfrm>
            <a:off x="640080" y="1828800"/>
            <a:ext cx="3474000" cy="27266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Rectangle 5"/>
          <p:cNvSpPr/>
          <p:nvPr/>
        </p:nvSpPr>
        <p:spPr>
          <a:xfrm>
            <a:off x="640080" y="1828800"/>
            <a:ext cx="72360" cy="2726640"/>
          </a:xfrm>
          <a:prstGeom prst="rect">
            <a:avLst/>
          </a:prstGeom>
          <a:solidFill>
            <a:srgbClr val="F2A0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6"/>
          <p:cNvSpPr/>
          <p:nvPr/>
        </p:nvSpPr>
        <p:spPr>
          <a:xfrm>
            <a:off x="914400" y="2011680"/>
            <a:ext cx="3016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F2A03D"/>
                </a:solidFill>
                <a:effectLst/>
                <a:uFillTx/>
                <a:latin typeface="Calibri"/>
              </a:rPr>
              <a:t>Autohundimiento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914400" y="2514600"/>
            <a:ext cx="3016800" cy="20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Idea opcional a futuro. Por complejidad y tiempo no lo hice.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El autohundimiento se plantea como “sacrificio táctico”. Por ej.: Si un jugador tiene dos barcos pegados puede sacrificar uno para evitar que el rival alcance o descubra el otro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8"/>
          <p:cNvSpPr/>
          <p:nvPr/>
        </p:nvSpPr>
        <p:spPr>
          <a:xfrm>
            <a:off x="4343400" y="1828800"/>
            <a:ext cx="3474000" cy="338544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Rectangle 9"/>
          <p:cNvSpPr/>
          <p:nvPr/>
        </p:nvSpPr>
        <p:spPr>
          <a:xfrm>
            <a:off x="4343400" y="1828800"/>
            <a:ext cx="72360" cy="338544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0"/>
          <p:cNvSpPr/>
          <p:nvPr/>
        </p:nvSpPr>
        <p:spPr>
          <a:xfrm>
            <a:off x="4617720" y="2011680"/>
            <a:ext cx="3016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La máquina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1"/>
          <p:cNvSpPr/>
          <p:nvPr/>
        </p:nvSpPr>
        <p:spPr>
          <a:xfrm>
            <a:off x="4617720" y="2514600"/>
            <a:ext cx="3016800" cy="24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Dispara al azar. No persigue barcos después de acertar. Podria </a:t>
            </a: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aprovechar los impactos con estrategia, diferentes modos de ataque (</a:t>
            </a:r>
            <a:r>
              <a:rPr lang="zxx" sz="16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búsqueda</a:t>
            </a: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: disparar al azar como ahora, </a:t>
            </a:r>
            <a:r>
              <a:rPr lang="zxx" sz="16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caza</a:t>
            </a:r>
            <a:r>
              <a:rPr lang="zxx" sz="16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: un impacto y busca las casillas vecinas, orientación: si 2 impactos quedan alineados continua atacando en esa línea).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2"/>
          <p:cNvSpPr/>
          <p:nvPr/>
        </p:nvSpPr>
        <p:spPr>
          <a:xfrm>
            <a:off x="8046720" y="1828800"/>
            <a:ext cx="3474000" cy="23767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13"/>
          <p:cNvSpPr/>
          <p:nvPr/>
        </p:nvSpPr>
        <p:spPr>
          <a:xfrm>
            <a:off x="8046720" y="1828800"/>
            <a:ext cx="72360" cy="237672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4"/>
          <p:cNvSpPr/>
          <p:nvPr/>
        </p:nvSpPr>
        <p:spPr>
          <a:xfrm>
            <a:off x="8321040" y="2011680"/>
            <a:ext cx="301680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Se puede reestructurar y mejorar el código para que sea más fácil de entender, de mantener y de ampliar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5"/>
          <p:cNvSpPr/>
          <p:nvPr/>
        </p:nvSpPr>
        <p:spPr>
          <a:xfrm>
            <a:off x="8321040" y="3258000"/>
            <a:ext cx="30168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Con funciones, métodos y clases.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Box 1"/>
          <p:cNvSpPr/>
          <p:nvPr/>
        </p:nvSpPr>
        <p:spPr>
          <a:xfrm>
            <a:off x="640080" y="411480"/>
            <a:ext cx="10972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2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08 · CIERRE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"/>
          <p:cNvSpPr/>
          <p:nvPr/>
        </p:nvSpPr>
        <p:spPr>
          <a:xfrm>
            <a:off x="640080" y="731520"/>
            <a:ext cx="10972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3000" b="1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Lo difícil y lo que aprendí</a:t>
            </a:r>
            <a:endParaRPr lang="es-E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"/>
          <p:cNvSpPr/>
          <p:nvPr/>
        </p:nvSpPr>
        <p:spPr>
          <a:xfrm>
            <a:off x="11155680" y="6355080"/>
            <a:ext cx="730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1000" b="0" u="none" strike="noStrike">
                <a:solidFill>
                  <a:srgbClr val="9AAEC0"/>
                </a:solidFill>
                <a:effectLst/>
                <a:uFillTx/>
                <a:latin typeface="Calibri"/>
              </a:rPr>
              <a:t>9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4"/>
          <p:cNvSpPr/>
          <p:nvPr/>
        </p:nvSpPr>
        <p:spPr>
          <a:xfrm>
            <a:off x="640080" y="1828800"/>
            <a:ext cx="3474000" cy="237672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Rectangle 5"/>
          <p:cNvSpPr/>
          <p:nvPr/>
        </p:nvSpPr>
        <p:spPr>
          <a:xfrm>
            <a:off x="640080" y="1828800"/>
            <a:ext cx="72360" cy="2376720"/>
          </a:xfrm>
          <a:prstGeom prst="rect">
            <a:avLst/>
          </a:prstGeom>
          <a:solidFill>
            <a:srgbClr val="E86A6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6"/>
          <p:cNvSpPr/>
          <p:nvPr/>
        </p:nvSpPr>
        <p:spPr>
          <a:xfrm>
            <a:off x="914400" y="2011680"/>
            <a:ext cx="3016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E86A6A"/>
                </a:solidFill>
                <a:effectLst/>
                <a:uFillTx/>
                <a:latin typeface="Calibri"/>
              </a:rPr>
              <a:t>Lo difícil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7"/>
          <p:cNvSpPr/>
          <p:nvPr/>
        </p:nvSpPr>
        <p:spPr>
          <a:xfrm>
            <a:off x="914400" y="2514600"/>
            <a:ext cx="3016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5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Que los barcos no se salieran ni se pisaran, y que no repitiera disparos.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8"/>
          <p:cNvSpPr/>
          <p:nvPr/>
        </p:nvSpPr>
        <p:spPr>
          <a:xfrm>
            <a:off x="4343400" y="1828800"/>
            <a:ext cx="3474000" cy="479988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ectangle 9"/>
          <p:cNvSpPr/>
          <p:nvPr/>
        </p:nvSpPr>
        <p:spPr>
          <a:xfrm>
            <a:off x="4343400" y="1828800"/>
            <a:ext cx="45000" cy="4799880"/>
          </a:xfrm>
          <a:prstGeom prst="rect">
            <a:avLst/>
          </a:prstGeom>
          <a:solidFill>
            <a:srgbClr val="3DDBC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2680" tIns="45000" rIns="2268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10"/>
          <p:cNvSpPr/>
          <p:nvPr/>
        </p:nvSpPr>
        <p:spPr>
          <a:xfrm>
            <a:off x="4617720" y="2011680"/>
            <a:ext cx="3016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Lo que aprendí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1"/>
          <p:cNvSpPr/>
          <p:nvPr/>
        </p:nvSpPr>
        <p:spPr>
          <a:xfrm>
            <a:off x="4617720" y="2514600"/>
            <a:ext cx="3118680" cy="37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xx" sz="12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Separar el código en archivos para que el código del programa sea mas sencillo de entender y gestionar. </a:t>
            </a:r>
            <a:endParaRPr lang="es-E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br>
              <a:rPr sz="1100"/>
            </a:br>
            <a:r>
              <a:rPr lang="zxx" sz="11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Validar entradas:</a:t>
            </a:r>
            <a:r>
              <a:rPr lang="zxx" sz="11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si escribo “Z9” o solo “B”, el juego no se cae; me avisa que la coordenada no sirve y me vuelve a pedir una. </a:t>
            </a:r>
            <a:br>
              <a:rPr sz="1100"/>
            </a:br>
            <a:br>
              <a:rPr sz="1100"/>
            </a:br>
            <a:r>
              <a:rPr lang="zxx" sz="11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Dividir el problema:</a:t>
            </a:r>
            <a:r>
              <a:rPr lang="zxx" sz="11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primero armo el tablero vacío, después coloco los barcos y al final me ocupo de los turnos, en lugar de intentar escribir todo a la vez.</a:t>
            </a:r>
            <a:br>
              <a:rPr sz="1100"/>
            </a:br>
            <a:br>
              <a:rPr sz="1100"/>
            </a:br>
            <a:r>
              <a:rPr lang="zxx" sz="11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Sacar conclusiones con cuidado:</a:t>
            </a:r>
            <a:r>
              <a:rPr lang="zxx" sz="11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si en una partida disparo poco a la fila D, no digo que D sea más segura; solo que tengo pocos datos de esa fila.</a:t>
            </a:r>
            <a:br>
              <a:rPr sz="1100"/>
            </a:br>
            <a:br>
              <a:rPr sz="1100"/>
            </a:br>
            <a:r>
              <a:rPr lang="zxx" sz="1100" b="0" u="sng" strike="noStrike">
                <a:solidFill>
                  <a:srgbClr val="EEF3F7"/>
                </a:solidFill>
                <a:effectLst/>
                <a:uFillTx/>
                <a:latin typeface="Calibri"/>
              </a:rPr>
              <a:t>Probar con muchas partidas:</a:t>
            </a:r>
            <a:r>
              <a:rPr lang="zxx" sz="1100" b="0" u="none" strike="noStrike">
                <a:solidFill>
                  <a:srgbClr val="EEF3F7"/>
                </a:solidFill>
                <a:effectLst/>
                <a:uFillTx/>
                <a:latin typeface="Calibri"/>
              </a:rPr>
              <a:t> me permitió comprobar que el juego se comporta como esperaba con entradas buenas y malas, y que siempre llega al final.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6"/>
          <p:cNvSpPr/>
          <p:nvPr/>
        </p:nvSpPr>
        <p:spPr>
          <a:xfrm>
            <a:off x="7325280" y="346680"/>
            <a:ext cx="31996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457200">
              <a:lnSpc>
                <a:spcPct val="100000"/>
              </a:lnSpc>
              <a:spcAft>
                <a:spcPts val="799"/>
              </a:spcAft>
            </a:pPr>
            <a:r>
              <a:rPr lang="zxx" sz="20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for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compañero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</a:t>
            </a:r>
            <a:r>
              <a:rPr lang="zxx" sz="20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in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bootcamp():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 print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(</a:t>
            </a:r>
            <a:r>
              <a:rPr lang="zxx" sz="2000" b="1" u="none" strike="noStrike">
                <a:solidFill>
                  <a:srgbClr val="3DDBC0"/>
                </a:solidFill>
                <a:effectLst/>
                <a:uFillTx/>
                <a:latin typeface="Calibri"/>
              </a:rPr>
              <a:t>"Gracias por escuchar la presentación"</a:t>
            </a:r>
            <a:r>
              <a:rPr lang="zxx" sz="20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):-)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4"/>
          <p:cNvSpPr/>
          <p:nvPr/>
        </p:nvSpPr>
        <p:spPr>
          <a:xfrm>
            <a:off x="8046720" y="1828800"/>
            <a:ext cx="3474000" cy="4525560"/>
          </a:xfrm>
          <a:prstGeom prst="roundRect">
            <a:avLst>
              <a:gd name="adj" fmla="val 8000"/>
            </a:avLst>
          </a:prstGeom>
          <a:solidFill>
            <a:srgbClr val="162A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zxx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5"/>
          <p:cNvSpPr/>
          <p:nvPr/>
        </p:nvSpPr>
        <p:spPr>
          <a:xfrm>
            <a:off x="8046720" y="1828800"/>
            <a:ext cx="72360" cy="452556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360" tIns="45000" rIns="36360" bIns="45000" anchor="ctr">
            <a:noAutofit/>
          </a:bodyPr>
          <a:p>
            <a:pPr/>
            <a:endParaRPr lang="zxx" sz="1800" b="0" u="none" strike="noStrike">
              <a:solidFill>
                <a:schemeClr val="accent6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8321040" y="2011680"/>
            <a:ext cx="319968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xx" sz="1700" b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Lo que sigue… pensando en Data Science</a:t>
            </a:r>
            <a:endParaRPr lang="es-E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8321040" y="2594880"/>
            <a:ext cx="3016800" cy="37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xx" sz="11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Juego actual:</a:t>
            </a:r>
            <a:r>
              <a:rPr lang="zxx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reglas programadas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La máquina elige una casilla aleatoria entre las que todavía no ha probado. No aprende de sus aciertos ni de sus errores.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1100"/>
            </a:br>
            <a:r>
              <a:rPr lang="zxx" sz="11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Análisis de datos: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Registrar partidas, disparos, impactos, hundimientos y número de turnos. Comparar estrategias y estudiar cuáles consiguen mejores resultados.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1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Machine Learning: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Entrenar un modelo con partidas anteriores para estimar qué casillas tienen mayor probabilidad de contener barcos, utilizando la información disponible en cada momento.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100" b="0" u="sng" strike="noStrike">
                <a:solidFill>
                  <a:schemeClr val="lt1"/>
                </a:solidFill>
                <a:effectLst/>
                <a:uFillTx/>
                <a:latin typeface="Calibri"/>
              </a:rPr>
              <a:t>Evaluación y mejora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xx" sz="1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Comparar el modelo con la estrategia aleatoria y comprobar si realmente necesita menos disparos para hundir la flota.</a:t>
            </a:r>
            <a:endParaRPr lang="es-E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s-E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5" name="22 Imagen"/>
          <p:cNvPicPr/>
          <p:nvPr/>
        </p:nvPicPr>
        <p:blipFill>
          <a:blip r:embed="rId1"/>
          <a:stretch/>
        </p:blipFill>
        <p:spPr>
          <a:xfrm>
            <a:off x="10381320" y="0"/>
            <a:ext cx="1810080" cy="23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12 Imagen"/>
          <p:cNvSpPr/>
          <p:nvPr/>
        </p:nvSpPr>
        <p:spPr>
          <a:xfrm>
            <a:off x="11125440" y="5295600"/>
            <a:ext cx="1058760" cy="10587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zx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482</TotalTime>
  <Application>LibreOffice/26.8.1.1$Windows_X86_64 LibreOffice_project/bf6ef2662401c7d6dce671ab4deb26ee0af3a7c1</Application>
  <AppVersion>15.0000</AppVersion>
  <Words>681</Words>
  <Paragraphs>99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2026-10-17T22:42:54Z</dcterms:modified>
  <cp:revision>39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Personalizado</vt:lpwstr>
  </property>
  <property fmtid="{D5CDD505-2E9C-101B-9397-08002B2CF9AE}" pid="4" name="Slides">
    <vt:i4>9</vt:i4>
  </property>
</Properties>
</file>